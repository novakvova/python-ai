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Ціна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40</c:v>
                </c:pt>
                <c:pt idx="1">
                  <c:v>55</c:v>
                </c:pt>
                <c:pt idx="2">
                  <c:v>60</c:v>
                </c:pt>
                <c:pt idx="3">
                  <c:v>70</c:v>
                </c:pt>
                <c:pt idx="4">
                  <c:v>75</c:v>
                </c:pt>
                <c:pt idx="5">
                  <c:v>85</c:v>
                </c:pt>
                <c:pt idx="6">
                  <c:v>95</c:v>
                </c:pt>
                <c:pt idx="7">
                  <c:v>100</c:v>
                </c:pt>
                <c:pt idx="8">
                  <c:v>110</c:v>
                </c:pt>
                <c:pt idx="9">
                  <c:v>120</c:v>
                </c:pt>
                <c:pt idx="10">
                  <c:v>130</c:v>
                </c:pt>
                <c:pt idx="11">
                  <c:v>140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90</c:v>
                </c:pt>
                <c:pt idx="1">
                  <c:v>120</c:v>
                </c:pt>
                <c:pt idx="2">
                  <c:v>130</c:v>
                </c:pt>
                <c:pt idx="3">
                  <c:v>150</c:v>
                </c:pt>
                <c:pt idx="4">
                  <c:v>140</c:v>
                </c:pt>
                <c:pt idx="5">
                  <c:v>175</c:v>
                </c:pt>
                <c:pt idx="6">
                  <c:v>185</c:v>
                </c:pt>
                <c:pt idx="7">
                  <c:v>205</c:v>
                </c:pt>
                <c:pt idx="8">
                  <c:v>215</c:v>
                </c:pt>
                <c:pt idx="9">
                  <c:v>230</c:v>
                </c:pt>
                <c:pt idx="10">
                  <c:v>255</c:v>
                </c:pt>
                <c:pt idx="11">
                  <c:v>260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E6D-4ABE-80ED-B227CB9EC3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7A8A"/>
                    </a:solidFill>
                    <a:latin typeface="Arial"/>
                  </a:defRPr>
                </a:pPr>
                <a:r>
                  <a:rPr lang="uk-UA" sz="1100" b="0" i="0" u="none" strike="noStrike">
                    <a:solidFill>
                      <a:srgbClr val="5C7A8A"/>
                    </a:solidFill>
                    <a:latin typeface="Arial"/>
                  </a:rPr>
                  <a:t>Площа (м²)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8A"/>
                </a:solidFill>
                <a:latin typeface="Arial"/>
              </a:defRPr>
            </a:pPr>
            <a:endParaRPr lang="uk-UA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7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7A8A"/>
                    </a:solidFill>
                    <a:latin typeface="Arial"/>
                  </a:defRPr>
                </a:pPr>
                <a:r>
                  <a:rPr lang="uk-UA" sz="1100" b="0" i="0" u="none" strike="noStrike">
                    <a:solidFill>
                      <a:srgbClr val="5C7A8A"/>
                    </a:solidFill>
                    <a:latin typeface="Arial"/>
                  </a:rPr>
                  <a:t>Ціна (тис. $)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8A"/>
                </a:solidFill>
                <a:latin typeface="Arial"/>
              </a:defRPr>
            </a:pPr>
            <a:endParaRPr lang="uk-UA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9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2580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2926080" cy="292608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3731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9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НАВЧАННЯ З УЧИТЕЛЕМ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143125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Лінійна регресія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22960" y="38633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F4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алгоритми навчаються передбачати числа на основі прикладів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5989320"/>
            <a:ext cx="32918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Вступ до алгоритмів машинного навчання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</a:t>
            </a: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навчання</a:t>
            </a: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з учителем?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63441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навчається на розмічених прикладах — парах "вхідні дані → правильна відповідь", щоб потім самостійно передбачати відповіді для нових, ще не бачених даних.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101600" dist="38100" dir="5400000" algn="bl" rotWithShape="0">
              <a:srgbClr val="1B3B4B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8803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644" y="30266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79476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Розмічені дані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77240" y="41788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Приклади з відомими відповідями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55264" y="33832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74720" y="260604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101600" dist="38100" dir="5400000" algn="bl" rotWithShape="0">
              <a:srgbClr val="1B3B4B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11980" y="28803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_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284" y="302666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84448" y="379476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611880" y="41788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Навчається на прикладах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089904" y="33832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309360" y="260604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101600" dist="38100" dir="5400000" algn="bl" rotWithShape="0">
              <a:srgbClr val="1B3B4B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46620" y="28803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icon_targ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924" y="302666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9088" y="379476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Передбачення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446520" y="41788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для нових даних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924544" y="33832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144000" y="260604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101600" dist="38100" dir="5400000" algn="bl" rotWithShape="0">
              <a:srgbClr val="1B3B4B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81260" y="28803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icon_checkCirc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7564" y="3026664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53728" y="379476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9281160" y="41788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з реальністю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Лінійна регресія — один із найпростіших і найпоширеніших методів такого навчання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303520"/>
            <a:ext cx="3657600" cy="3657600"/>
          </a:xfrm>
          <a:prstGeom prst="ellipse">
            <a:avLst/>
          </a:prstGeom>
          <a:solidFill>
            <a:srgbClr val="065A82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Лінійна регресія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Метод, що описує залежність між змінними прямою лінією та передбачає числове значення.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206240"/>
            <a:ext cx="3291840" cy="1965960"/>
          </a:xfrm>
          <a:prstGeom prst="roundRect">
            <a:avLst>
              <a:gd name="adj" fmla="val 4651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70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Ключова ідея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736592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Знайти пряму лінію, яка найкраще "проходить" крізь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даних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640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Формула моделі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6583680" cy="1371600"/>
          </a:xfrm>
          <a:prstGeom prst="roundRect">
            <a:avLst>
              <a:gd name="adj" fmla="val 8000"/>
            </a:avLst>
          </a:prstGeom>
          <a:solidFill>
            <a:srgbClr val="EAF4F6"/>
          </a:solidFill>
          <a:ln w="12700">
            <a:solidFill>
              <a:srgbClr val="CD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</a:t>
            </a:r>
            <a:r>
              <a:rPr lang="en-US" sz="4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r>
              <a:rPr lang="en-US" sz="4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+ </a:t>
            </a:r>
            <a:r>
              <a:rPr lang="en-US" sz="4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4663440" y="2880360"/>
            <a:ext cx="457200" cy="457200"/>
          </a:xfrm>
          <a:prstGeom prst="ellipse">
            <a:avLst/>
          </a:prstGeom>
          <a:solidFill>
            <a:srgbClr val="F4F9FA"/>
          </a:solidFill>
          <a:ln w="22225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2855103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передбачене значення (ціль)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3538728"/>
            <a:ext cx="457200" cy="457200"/>
          </a:xfrm>
          <a:prstGeom prst="ellipse">
            <a:avLst/>
          </a:prstGeom>
          <a:solidFill>
            <a:srgbClr val="F4F9FA"/>
          </a:solidFill>
          <a:ln w="22225">
            <a:solidFill>
              <a:srgbClr val="5C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5C7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03520" y="3513471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вхідна ознака (фактор)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4197096"/>
            <a:ext cx="457200" cy="457200"/>
          </a:xfrm>
          <a:prstGeom prst="ellipse">
            <a:avLst/>
          </a:prstGeom>
          <a:solidFill>
            <a:srgbClr val="F4F9FA"/>
          </a:solidFill>
          <a:ln w="22225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0" y="4171839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вага — нахил прямої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4855464"/>
            <a:ext cx="457200" cy="457200"/>
          </a:xfrm>
          <a:prstGeom prst="ellipse">
            <a:avLst/>
          </a:prstGeom>
          <a:solidFill>
            <a:srgbClr val="F4F9FA"/>
          </a:solidFill>
          <a:ln w="22225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4830207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зсув (intercept) — точка перетину з віссю 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63440" y="57150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навчання — підібрати такі w і b, щоб передбачення були якнайточнішими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 виглядає лінія регресії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площа будинку (м²) → ціна (тис. $)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9164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91640"/>
            <a:ext cx="3913632" cy="448056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101600" dist="38100" dir="5400000" algn="bl" rotWithShape="0">
              <a:srgbClr val="1B3B4B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показує графік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7863840" y="247802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8119872" y="226291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крапка — реальний будинок із відомою площею та ціною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863840" y="3191256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8119872" y="297615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шукає пряму, яка мінімізує відстань до всіх точок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863840" y="3904488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9"/>
          <p:cNvSpPr/>
          <p:nvPr/>
        </p:nvSpPr>
        <p:spPr>
          <a:xfrm>
            <a:off x="8119872" y="368938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Нахил лінії (w) показує, на скільки зростає ціна за кожен м²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863840" y="461772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1"/>
          <p:cNvSpPr/>
          <p:nvPr/>
        </p:nvSpPr>
        <p:spPr>
          <a:xfrm>
            <a:off x="8119872" y="440261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навчання лінію можна використати для нових об'єктів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 модель оцінює свою помилку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 втрат — середньоквадратична помилка (MSE)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 = 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FE8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1/n Σ (yᵢ − ŷᵢ)²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4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середнє квадратів різниці між реальним і передбаченим значенням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pic>
        <p:nvPicPr>
          <p:cNvPr id="9" name="Image 0" descr="icon_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911096"/>
            <a:ext cx="246888" cy="2468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20840" y="17556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yᵢ — реальне значення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720840" y="2075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Фактичний результат з навчальних даних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80760" y="2560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pic>
        <p:nvPicPr>
          <p:cNvPr id="13" name="Image 1" descr="icon_trendingU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2688336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20840" y="25328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ŷᵢ — передбачене значення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720840" y="2852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Те, що видала модель для цього прикладу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080760" y="3337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/>
        </p:spPr>
      </p:sp>
      <p:pic>
        <p:nvPicPr>
          <p:cNvPr id="17" name="Image 2" descr="icon_activit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3465576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0840" y="33101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квадрат?</a:t>
            </a: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6720840" y="3630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Прибирає знак і сильніше "штрафує" великі помилки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40080" y="3977640"/>
            <a:ext cx="10881360" cy="1691640"/>
          </a:xfrm>
          <a:prstGeom prst="roundRect">
            <a:avLst>
              <a:gd name="adj" fmla="val 6486"/>
            </a:avLst>
          </a:prstGeom>
          <a:solidFill>
            <a:srgbClr val="EAF4F6"/>
          </a:solidFill>
          <a:ln w="12700">
            <a:solidFill>
              <a:srgbClr val="CDE3E8"/>
            </a:solidFill>
            <a:prstDash val="solid"/>
          </a:ln>
        </p:spPr>
      </p:sp>
      <p:pic>
        <p:nvPicPr>
          <p:cNvPr id="21" name="Image 3" descr="icon_zap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519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224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навчання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1508760" y="461772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Підібрати параметри w і b так, щоб значення MSE було якомога меншим — це і означає, що лінія найкраще описує дані та передбачення моделі максимально близькі до реальності.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 модель знаходить найкращу лінію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градієнтного спуску (Gradient Descent)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993392" cy="27432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88900" dist="25400" dir="5400000" algn="bl" rotWithShape="0">
              <a:srgbClr val="1B3B4B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4168" y="222199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344168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9808" y="2990088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Початкові значення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8096" y="36118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і b встановлюються випадково або нулями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38044" y="3017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07208" y="1965960"/>
            <a:ext cx="1993392" cy="27432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88900" dist="25400" dir="5400000" algn="bl" rotWithShape="0">
              <a:srgbClr val="1B3B4B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11296" y="222199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511296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16936" y="2990088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Обчислення помилки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35224" y="36118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Порівнюємо передбачення з реальними даними (MSE)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5172" y="3017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74336" y="1965960"/>
            <a:ext cx="1993392" cy="27432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88900" dist="25400" dir="5400000" algn="bl" rotWithShape="0">
              <a:srgbClr val="1B3B4B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78424" y="222199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678424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84064" y="2990088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Розрахунок градієнта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02352" y="36118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Визначаємо напрямок, що зменшує помилку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72300" y="3017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141464" y="1965960"/>
            <a:ext cx="1993392" cy="27432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88900" dist="25400" dir="5400000" algn="bl" rotWithShape="0">
              <a:srgbClr val="1B3B4B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45552" y="2221992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7845552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51192" y="2990088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Оновлення параметрів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69480" y="36118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Невеликий крок у бік зменшення похибки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39428" y="3017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308592" y="1965960"/>
            <a:ext cx="1993392" cy="274320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88900" dist="25400" dir="5400000" algn="bl" rotWithShape="0">
              <a:srgbClr val="1B3B4B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12680" y="2221992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10012680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418320" y="2990088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Повторення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436608" y="36118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триває, доки помилка не стане мінімальною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20624" y="5120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50749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Швидкість навчання (learning rate)</a:t>
            </a:r>
            <a:r>
              <a:rPr lang="en-US" sz="1600" dirty="0">
                <a:solidFill>
                  <a:srgbClr val="F4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визначає розмір кожного кроку: замалий — навчання йде повільно, завеликий — модель може "проскочити" </a:t>
            </a:r>
            <a:r>
              <a:rPr lang="en-US" sz="1600" dirty="0" err="1">
                <a:solidFill>
                  <a:srgbClr val="F4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оптимум</a:t>
            </a:r>
            <a:r>
              <a:rPr lang="en-US" sz="1600" dirty="0">
                <a:solidFill>
                  <a:srgbClr val="F4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Переваги та обмеження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EAF6F0"/>
          </a:solidFill>
          <a:ln w="12700">
            <a:solidFill>
              <a:srgbClr val="C9E8D8"/>
            </a:solidFill>
            <a:prstDash val="solid"/>
          </a:ln>
        </p:spPr>
      </p:sp>
      <p:pic>
        <p:nvPicPr>
          <p:cNvPr id="4" name="Image 0" descr="icon_checkCirc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916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673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5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Переваги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60120" y="2423160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1234440" y="223374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Проста для розуміння та реалізації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60120" y="3136392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294697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Швидко навчається навіть на великих даних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60120" y="3849624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66021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 легко інтерпретувати (вага = вплив ознаки)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60120" y="4562856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437344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 базова модель для порівняння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60120" y="5276088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508667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потребує потужних обчислювальних ресурсів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63640" y="141732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FCEBEA"/>
          </a:solidFill>
          <a:ln w="12700">
            <a:solidFill>
              <a:srgbClr val="F5CAC7"/>
            </a:solidFill>
            <a:prstDash val="solid"/>
          </a:ln>
        </p:spPr>
      </p:sp>
      <p:pic>
        <p:nvPicPr>
          <p:cNvPr id="17" name="Image 1" descr="icon_alertTriangle_c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69164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0" y="1673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C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Обмеження</a:t>
            </a:r>
            <a:endParaRPr lang="en-US" sz="2800" dirty="0"/>
          </a:p>
        </p:txBody>
      </p:sp>
      <p:sp>
        <p:nvSpPr>
          <p:cNvPr id="19" name="Shape 15"/>
          <p:cNvSpPr/>
          <p:nvPr/>
        </p:nvSpPr>
        <p:spPr>
          <a:xfrm>
            <a:off x="6583680" y="2423160"/>
            <a:ext cx="137160" cy="1371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6"/>
          <p:cNvSpPr/>
          <p:nvPr/>
        </p:nvSpPr>
        <p:spPr>
          <a:xfrm>
            <a:off x="6858000" y="223374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Погано працює з нелінійними залежностями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583680" y="3136392"/>
            <a:ext cx="137160" cy="1371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0" y="294697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Чутлива до викидів у даних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6583680" y="3849624"/>
            <a:ext cx="137160" cy="1371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0"/>
          <p:cNvSpPr/>
          <p:nvPr/>
        </p:nvSpPr>
        <p:spPr>
          <a:xfrm>
            <a:off x="6858000" y="366021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Передбачає незалежність ознак одна від одної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6583680" y="4562856"/>
            <a:ext cx="137160" cy="1371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2"/>
          <p:cNvSpPr/>
          <p:nvPr/>
        </p:nvSpPr>
        <p:spPr>
          <a:xfrm>
            <a:off x="6858000" y="437344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 недооцінювати складні реальні процеси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583680" y="5276088"/>
            <a:ext cx="137160" cy="1371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8" name="Text 24"/>
          <p:cNvSpPr/>
          <p:nvPr/>
        </p:nvSpPr>
        <p:spPr>
          <a:xfrm>
            <a:off x="6858000" y="508667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Потребує масштабування ознак для стабільності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 застосовується лінійна регресія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Практичні приклади прогнозування числових значень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88900" dist="25400" dir="5400000" algn="bl" rotWithShape="0">
              <a:srgbClr val="1B3B4B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3055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_hom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26771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8072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Нерухомість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96112" y="3172968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Оцінка вартості житла за площею, районом, поверхом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87452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88900" dist="25400" dir="5400000" algn="bl" rotWithShape="0">
              <a:srgbClr val="1B3B4B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13055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_dollarSig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26771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8072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Фінанси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4553712" y="3172968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доходів, витрат чи вартості акцій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955280" y="187452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88900" dist="25400" dir="5400000" algn="bl" rotWithShape="0">
              <a:srgbClr val="1B3B4B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11312" y="213055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_thermomet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26771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11312" y="280720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Погода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8211312" y="3172968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Прогнозування температури та кліматичних показників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40080" y="411480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88900" dist="25400" dir="5400000" algn="bl" rotWithShape="0">
              <a:srgbClr val="1B3B4B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3708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_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450799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504748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896112" y="5413248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Оцінка впливу реклами на обсяг продажів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297680" y="411480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88900" dist="25400" dir="5400000" algn="bl" rotWithShape="0">
              <a:srgbClr val="1B3B4B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3708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icon_bar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50799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504748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Економіка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4553712" y="5413248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залежності попиту від ціни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7955280" y="411480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7EA"/>
            </a:solidFill>
            <a:prstDash val="solid"/>
          </a:ln>
          <a:effectLst>
            <a:outerShdw blurRad="88900" dist="25400" dir="5400000" algn="bl" rotWithShape="0">
              <a:srgbClr val="1B3B4B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11312" y="43708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icon_activity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472" y="4507992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11312" y="504748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Медицина</a:t>
            </a:r>
            <a:endParaRPr lang="en-US" sz="2400" dirty="0"/>
          </a:p>
        </p:txBody>
      </p:sp>
      <p:sp>
        <p:nvSpPr>
          <p:cNvPr id="33" name="Text 25"/>
          <p:cNvSpPr/>
          <p:nvPr/>
        </p:nvSpPr>
        <p:spPr>
          <a:xfrm>
            <a:off x="8211312" y="5413248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Передбачення показників здоров'я пацієнта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7011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Від однієї ознаки до багатьох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9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Множинна лінійна регресія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79396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реальних задачах результат зазвичай залежить не від однієї, а від кількох ознак одночасно. Множинна лінійна регресія враховує їх усі, додаючи кожній власну вагу.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EAF4F6"/>
          </a:solidFill>
          <a:ln w="12700">
            <a:solidFill>
              <a:srgbClr val="CD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432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</a:t>
            </a:r>
            <a:r>
              <a:rPr lang="en-US" sz="3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w₁</a:t>
            </a: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x₁ + </a:t>
            </a: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w₂</a:t>
            </a: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x₂ + ... + </a:t>
            </a: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wₙ</a:t>
            </a: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xₙ + </a:t>
            </a: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прогноз ціни будинку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47091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4F9FA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4709160"/>
            <a:ext cx="73152" cy="1417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937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 (x₁)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5440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w₁ = 1.6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343400" y="47091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4F9FA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4709160"/>
            <a:ext cx="73152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4937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К-сть кімнат (x₂)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17720" y="5440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w₂ = 8.2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046720" y="47091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4F9FA"/>
          </a:solidFill>
          <a:ln w="12700">
            <a:solidFill>
              <a:srgbClr val="DCE7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4709160"/>
            <a:ext cx="73152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4937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Вік будинку (x₃)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21040" y="54406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w₃ = −0.9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Підсумок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bookOpe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815084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1848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4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Лінійна регресія — базовий алгоритм навчання з учителем для прогнозування числових значень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2651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icon_trendingU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2775204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57860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4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шукає пряму лінію y = wx + b, яка найкраще описує залежність у даних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822960" y="3611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icon_activit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3735324"/>
            <a:ext cx="265176" cy="2651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5387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4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 втрат (MSE) вимірює помилку, а градієнтний спуск поступово її зменшує</a:t>
            </a:r>
            <a:endParaRPr lang="en-US" sz="2400" dirty="0"/>
          </a:p>
        </p:txBody>
      </p:sp>
      <p:sp>
        <p:nvSpPr>
          <p:cNvPr id="14" name="Shape 9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3" descr="icon_lay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695444"/>
            <a:ext cx="265176" cy="26517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54480" y="44988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4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Множинна регресія розширює підхід на кілька ознак одночасно</a:t>
            </a:r>
            <a:endParaRPr lang="en-US" sz="2400" dirty="0"/>
          </a:p>
        </p:txBody>
      </p:sp>
      <p:sp>
        <p:nvSpPr>
          <p:cNvPr id="17" name="Shape 11"/>
          <p:cNvSpPr/>
          <p:nvPr/>
        </p:nvSpPr>
        <p:spPr>
          <a:xfrm>
            <a:off x="822960" y="5806440"/>
            <a:ext cx="32918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E8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Дякую за увагу!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691</Words>
  <Application>Microsoft Office PowerPoint</Application>
  <PresentationFormat>Широкий екран</PresentationFormat>
  <Paragraphs>131</Paragraphs>
  <Slides>10</Slides>
  <Notes>10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novak</cp:lastModifiedBy>
  <cp:revision>11</cp:revision>
  <dcterms:created xsi:type="dcterms:W3CDTF">2026-07-11T08:40:10Z</dcterms:created>
  <dcterms:modified xsi:type="dcterms:W3CDTF">2026-10-24T12:31:51Z</dcterms:modified>
</cp:coreProperties>
</file>