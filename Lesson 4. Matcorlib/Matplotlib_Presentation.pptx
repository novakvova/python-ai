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800" b="0" i="0" u="none" strike="noStrike">
                <a:solidFill>
                  <a:srgbClr val="21295C"/>
                </a:solidFill>
                <a:latin typeface="Arial"/>
              </a:rPr>
              <a:t>y = sin(x)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sin(x)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-10</c:v>
                  </c:pt>
                  <c:pt idx="1">
                    <c:v/>
                  </c:pt>
                  <c:pt idx="2">
                    <c:v>-8</c:v>
                  </c:pt>
                  <c:pt idx="3">
                    <c:v/>
                  </c:pt>
                  <c:pt idx="4">
                    <c:v>-6</c:v>
                  </c:pt>
                  <c:pt idx="5">
                    <c:v/>
                  </c:pt>
                  <c:pt idx="6">
                    <c:v>-4</c:v>
                  </c:pt>
                  <c:pt idx="7">
                    <c:v/>
                  </c:pt>
                  <c:pt idx="8">
                    <c:v>-2</c:v>
                  </c:pt>
                  <c:pt idx="9">
                    <c:v/>
                  </c:pt>
                  <c:pt idx="10">
                    <c:v>0</c:v>
                  </c:pt>
                  <c:pt idx="11">
                    <c:v/>
                  </c:pt>
                  <c:pt idx="12">
                    <c:v>2</c:v>
                  </c:pt>
                  <c:pt idx="13">
                    <c:v/>
                  </c:pt>
                  <c:pt idx="14">
                    <c:v>4</c:v>
                  </c:pt>
                  <c:pt idx="15">
                    <c:v/>
                  </c:pt>
                  <c:pt idx="16">
                    <c:v>6</c:v>
                  </c:pt>
                  <c:pt idx="17">
                    <c:v/>
                  </c:pt>
                  <c:pt idx="18">
                    <c:v>8</c:v>
                  </c:pt>
                  <c:pt idx="19">
                    <c:v/>
                  </c:pt>
                  <c:pt idx="20">
                    <c:v>10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0.54</c:v>
                </c:pt>
                <c:pt idx="1">
                  <c:v>-0.41</c:v>
                </c:pt>
                <c:pt idx="2">
                  <c:v>-0.99</c:v>
                </c:pt>
                <c:pt idx="3">
                  <c:v>-0.66</c:v>
                </c:pt>
                <c:pt idx="4">
                  <c:v>0.28</c:v>
                </c:pt>
                <c:pt idx="5">
                  <c:v>0.96</c:v>
                </c:pt>
                <c:pt idx="6">
                  <c:v>0.76</c:v>
                </c:pt>
                <c:pt idx="7">
                  <c:v>-0.14</c:v>
                </c:pt>
                <c:pt idx="8">
                  <c:v>-0.91</c:v>
                </c:pt>
                <c:pt idx="9">
                  <c:v>-0.84</c:v>
                </c:pt>
                <c:pt idx="10">
                  <c:v>0</c:v>
                </c:pt>
                <c:pt idx="11">
                  <c:v>0.84</c:v>
                </c:pt>
                <c:pt idx="12">
                  <c:v>0.91</c:v>
                </c:pt>
                <c:pt idx="13">
                  <c:v>0.14</c:v>
                </c:pt>
                <c:pt idx="14">
                  <c:v>-0.76</c:v>
                </c:pt>
                <c:pt idx="15">
                  <c:v>-0.96</c:v>
                </c:pt>
                <c:pt idx="16">
                  <c:v>-0.28</c:v>
                </c:pt>
                <c:pt idx="17">
                  <c:v>0.66</c:v>
                </c:pt>
                <c:pt idx="18">
                  <c:v>0.99</c:v>
                </c:pt>
                <c:pt idx="19">
                  <c:v>0.41</c:v>
                </c:pt>
                <c:pt idx="20">
                  <c:v>-0.54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9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800" b="0" i="0" u="none" strike="noStrike">
                <a:solidFill>
                  <a:srgbClr val="21295C"/>
                </a:solidFill>
                <a:latin typeface="Arial"/>
              </a:rPr>
              <a:t>Розподіл часток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Частка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9FD8E8"/>
              </a:solidFill>
              <a:effectLst/>
            </c:spPr>
          </c:dPt>
          <c:dPt>
            <c:idx val="3"/>
            <c:bubble3D val="0"/>
            <c:spPr>
              <a:solidFill>
                <a:srgbClr val="21295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B2B3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800" b="0" i="0" u="none" strike="noStrike">
                <a:solidFill>
                  <a:srgbClr val="21295C"/>
                </a:solidFill>
                <a:latin typeface="Arial"/>
              </a:rPr>
              <a:t>Залежність y від x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Дані</c:v>
                </c:pt>
              </c:strCache>
            </c:strRef>
          </c:tx>
          <c:spPr>
            <a:solidFill>
              <a:srgbClr val="1C7293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5</c:v>
                </c:pt>
                <c:pt idx="1">
                  <c:v>12</c:v>
                </c:pt>
                <c:pt idx="2">
                  <c:v>18</c:v>
                </c:pt>
                <c:pt idx="3">
                  <c:v>24</c:v>
                </c:pt>
                <c:pt idx="4">
                  <c:v>31</c:v>
                </c:pt>
                <c:pt idx="5">
                  <c:v>37</c:v>
                </c:pt>
                <c:pt idx="6">
                  <c:v>45</c:v>
                </c:pt>
                <c:pt idx="7">
                  <c:v>52</c:v>
                </c:pt>
                <c:pt idx="8">
                  <c:v>60</c:v>
                </c:pt>
                <c:pt idx="9">
                  <c:v>68</c:v>
                </c:pt>
                <c:pt idx="10">
                  <c:v>74</c:v>
                </c:pt>
                <c:pt idx="11">
                  <c:v>82</c:v>
                </c:pt>
                <c:pt idx="12">
                  <c:v>90</c:v>
                </c:pt>
                <c:pt idx="13">
                  <c:v>96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6.9</c:v>
                </c:pt>
                <c:pt idx="1">
                  <c:v>25.2</c:v>
                </c:pt>
                <c:pt idx="2">
                  <c:v>28.9</c:v>
                </c:pt>
                <c:pt idx="3">
                  <c:v>51.2</c:v>
                </c:pt>
                <c:pt idx="4">
                  <c:v>67.6</c:v>
                </c:pt>
                <c:pt idx="5">
                  <c:v>82.8</c:v>
                </c:pt>
                <c:pt idx="6">
                  <c:v>92.3</c:v>
                </c:pt>
                <c:pt idx="7">
                  <c:v>109.9</c:v>
                </c:pt>
                <c:pt idx="8">
                  <c:v>129.9</c:v>
                </c:pt>
                <c:pt idx="9">
                  <c:v>145</c:v>
                </c:pt>
                <c:pt idx="10">
                  <c:v>147.8</c:v>
                </c:pt>
                <c:pt idx="11">
                  <c:v>171.3</c:v>
                </c:pt>
                <c:pt idx="12">
                  <c:v>180.9</c:v>
                </c:pt>
                <c:pt idx="13">
                  <c:v>192.6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9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800" b="0" i="0" u="none" strike="noStrike">
                <a:solidFill>
                  <a:srgbClr val="21295C"/>
                </a:solidFill>
                <a:latin typeface="Arial"/>
              </a:rPr>
              <a:t>Значення за категоріями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Значення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22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9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mages/icon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2710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Основи Matplotlib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Побудова графіків та візуалізація даних у Python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</a:t>
            </a:r>
            <a:pPr indent="0" marL="0">
              <a:buNone/>
            </a:pPr>
            <a:r>
              <a:rPr lang="en-US" sz="16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600" b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</a:t>
            </a:r>
            <a:pPr indent="0" marL="0">
              <a:buNone/>
            </a:pPr>
            <a:r>
              <a:rPr lang="en-US" sz="16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600" b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mages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Основні об'єкти matplotlib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33832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(Фігура)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28346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Полотно верхнього рівня — контейнер для всіх осей, підписів і легенд.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251960" y="1417320"/>
            <a:ext cx="33832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6280" y="1691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45262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2628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(Осі)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26280" y="28346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побудови графіка: система координат з підписами та заголовком.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955280" y="1417320"/>
            <a:ext cx="33832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0" y="169164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22960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(Графік)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229600" y="28346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Конкретна візуалізація даних всередині Axes — лінія, стовпці, точки.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4864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Ієрархія:  </a:t>
            </a:r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</a:t>
            </a:r>
            <a:pPr indent="0" marL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</a:t>
            </a:r>
            <a:pPr indent="0" marL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0F2438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519379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ax.plot(x, y)   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mages/icon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Побудова графіків функцій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0F2438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53619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np.linspace(-10, 10, 200)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np.sin(x)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ax.plot(x, y, label='sin(x)')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ax.legend(); ax.grid(True)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70332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ax.plot()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будує лінійний графік залежності y від 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підтримує стилі ліній, кольори, маркери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легенда (legend) та сітка (grid) покращують читабельність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035040" y="1371600"/>
          <a:ext cx="55778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mages/icon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Гістограма розподілу змінних</a:t>
            </a:r>
            <a:endParaRPr lang="en-US" sz="3000" dirty="0"/>
          </a:p>
        </p:txBody>
      </p:sp>
      <p:pic>
        <p:nvPicPr>
          <p:cNvPr id="7" name="Image 1" descr="images/histogra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1234440"/>
            <a:ext cx="5669280" cy="3566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371600"/>
            <a:ext cx="5120640" cy="1737360"/>
          </a:xfrm>
          <a:prstGeom prst="roundRect">
            <a:avLst>
              <a:gd name="adj" fmla="val 3158"/>
            </a:avLst>
          </a:prstGeom>
          <a:solidFill>
            <a:srgbClr val="0F2438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15087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np.random.normal(0, 1, 1000)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ax.hist(data, bins=30,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edgecolor='black')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33832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Показує частоту потрапляння значень у визначені інтервали (bins)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bins задає кількість інтервалів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Допомагає оцінити форму розподілу даних (нормальний, асиметричний тощо)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89320" y="4892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ax.hist(data, bins, ...)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5" name="Image 0" descr="images/icon_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Кругові діаграми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5120640" cy="1737360"/>
          </a:xfrm>
          <a:prstGeom prst="roundRect">
            <a:avLst>
              <a:gd name="adj" fmla="val 3158"/>
            </a:avLst>
          </a:prstGeom>
          <a:solidFill>
            <a:srgbClr val="0F2438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5087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['A', 'B', 'C', 'D']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sizes = [35, 25, 20, 20]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ax.pie(sizes, labels=labels,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autopct='%1.1f%%')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3832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Показує частку кожної категорії у загальному цілому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autopct відображає відсотки на секторах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ax.axis('equal') зберігає форму кола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126480" y="128016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mages/icon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Box-plot діаграми</a:t>
            </a:r>
            <a:endParaRPr lang="en-US" sz="3000" dirty="0"/>
          </a:p>
        </p:txBody>
      </p:sp>
      <p:pic>
        <p:nvPicPr>
          <p:cNvPr id="7" name="Image 1" descr="images/boxplo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1234440"/>
            <a:ext cx="5669280" cy="3566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371600"/>
            <a:ext cx="5120640" cy="1463040"/>
          </a:xfrm>
          <a:prstGeom prst="roundRect">
            <a:avLst>
              <a:gd name="adj" fmla="val 3750"/>
            </a:avLst>
          </a:prstGeom>
          <a:solidFill>
            <a:srgbClr val="0F2438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157276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ax.boxplot(data,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labels=['Гр.1','Гр.2','Гр.3'])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301752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Показує медіану, квартилі (Q1/Q3) та розмах даних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"Вуса" (whiskers) позначають межі типових значень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Окремі точки за межами вусів — викиди (outliers)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Зручно для порівняння розподілів кількох груп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89320" y="4892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ax.boxplot(data, ...)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mages/icon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Побудова точкових діаграм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5120640" cy="1920240"/>
          </a:xfrm>
          <a:prstGeom prst="roundRect">
            <a:avLst>
              <a:gd name="adj" fmla="val 2857"/>
            </a:avLst>
          </a:prstGeom>
          <a:solidFill>
            <a:srgbClr val="0F2438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5087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np.random.rand(100)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2*x + noise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ax.scatter(x, y, alpha=0.6)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точка — окреме спостереження (пара значень x, 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Показує залежність або кореляцію між двома змінними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контролює прозорість для щільних наборів даних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035040" y="1371600"/>
          <a:ext cx="55778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5" name="Image 0" descr="images/icon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Побудова bar-plot діаграм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5120640" cy="1737360"/>
          </a:xfrm>
          <a:prstGeom prst="roundRect">
            <a:avLst>
              <a:gd name="adj" fmla="val 3158"/>
            </a:avLst>
          </a:prstGeom>
          <a:solidFill>
            <a:srgbClr val="0F2438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5087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 = ['A','B','C','D']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= [15, 30, 22, 18]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ax.bar(categories, values)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3832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Порівнює значення між категоріями (стовпці)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ax.barh() будує горизонтальний варіант діаграми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Добре підходить для категоріальних даних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035040" y="1280160"/>
          <a:ext cx="5577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images/icon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83759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91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Підсумок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822960" y="2660904"/>
            <a:ext cx="164592" cy="164592"/>
          </a:xfrm>
          <a:prstGeom prst="ellipse">
            <a:avLst/>
          </a:prstGeom>
          <a:solidFill>
            <a:srgbClr val="9FD8E8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249631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Figure, Axes, Plot — три базові об'єкти matplotlib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172968"/>
            <a:ext cx="164592" cy="164592"/>
          </a:xfrm>
          <a:prstGeom prst="ellipse">
            <a:avLst/>
          </a:prstGeom>
          <a:solidFill>
            <a:srgbClr val="9FD8E8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300837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plot() — для функцій та часових рядів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685032"/>
            <a:ext cx="164592" cy="164592"/>
          </a:xfrm>
          <a:prstGeom prst="ellipse">
            <a:avLst/>
          </a:prstGeom>
          <a:solidFill>
            <a:srgbClr val="9FD8E8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5204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hist() — для розподілу однієї змінної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4197096"/>
            <a:ext cx="164592" cy="164592"/>
          </a:xfrm>
          <a:prstGeom prst="ellipse">
            <a:avLst/>
          </a:prstGeom>
          <a:solidFill>
            <a:srgbClr val="9FD8E8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403250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pie() — для часток від цілого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4709160"/>
            <a:ext cx="164592" cy="164592"/>
          </a:xfrm>
          <a:prstGeom prst="ellipse">
            <a:avLst/>
          </a:prstGeom>
          <a:solidFill>
            <a:srgbClr val="9FD8E8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54456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boxplot() — для медіани, квартилів і викидів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22960" y="5221224"/>
            <a:ext cx="164592" cy="164592"/>
          </a:xfrm>
          <a:prstGeom prst="ellipse">
            <a:avLst/>
          </a:prstGeom>
          <a:solidFill>
            <a:srgbClr val="9FD8E8"/>
          </a:solidFill>
          <a:ln/>
        </p:spPr>
      </p:sp>
      <p:sp>
        <p:nvSpPr>
          <p:cNvPr id="17" name="Text 14"/>
          <p:cNvSpPr/>
          <p:nvPr/>
        </p:nvSpPr>
        <p:spPr>
          <a:xfrm>
            <a:off x="1188720" y="50566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scatter() — для залежності між двома змінними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22960" y="5733288"/>
            <a:ext cx="164592" cy="164592"/>
          </a:xfrm>
          <a:prstGeom prst="ellipse">
            <a:avLst/>
          </a:prstGeom>
          <a:solidFill>
            <a:srgbClr val="9FD8E8"/>
          </a:solidFill>
          <a:ln/>
        </p:spPr>
      </p:sp>
      <p:sp>
        <p:nvSpPr>
          <p:cNvPr id="19" name="Text 16"/>
          <p:cNvSpPr/>
          <p:nvPr/>
        </p:nvSpPr>
        <p:spPr>
          <a:xfrm>
            <a:off x="1188720" y="556869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bar() / barh() — для порівняння категорій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Основи Matplotlib</dc:title>
  <dc:subject>PptxGenJS Presentation</dc:subject>
  <dc:creator>Matplotlib Guide</dc:creator>
  <cp:lastModifiedBy>Matplotlib Guide</cp:lastModifiedBy>
  <cp:revision>1</cp:revision>
  <dcterms:created xsi:type="dcterms:W3CDTF">2026-07-07T10:06:34Z</dcterms:created>
  <dcterms:modified xsi:type="dcterms:W3CDTF">2026-07-07T10:06:34Z</dcterms:modified>
</cp:coreProperties>
</file>